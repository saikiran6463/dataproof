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  <Override PartName="/ppt/slides/slide1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8" r:id="rId33"/>
    <p:sldId id="262" r:id="rId13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Outfit"/>
      <p:regular r:id="rId19"/>
      <p:bold r:id="rId20"/>
    </p:embeddedFont>
    <p:embeddedFont>
      <p:font typeface="Urbanist SemiBold"/>
      <p:regular r:id="rId21"/>
      <p:bold r:id="rId22"/>
      <p:italic r:id="rId23"/>
      <p:boldItalic r:id="rId24"/>
    </p:embeddedFont>
    <p:embeddedFont>
      <p:font typeface="Urbanist Medium"/>
      <p:regular r:id="rId25"/>
      <p:bold r:id="rId26"/>
      <p:italic r:id="rId27"/>
      <p:boldItalic r:id="rId28"/>
    </p:embeddedFont>
    <p:embeddedFont>
      <p:font typeface="Urbanist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E3CE238-AE5F-4447-8EDE-35D1CA05EEC6}">
  <a:tblStyle styleId="{9E3CE238-AE5F-4447-8EDE-35D1CA05EEC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?><Relationships xmlns="http://schemas.openxmlformats.org/package/2006/relationships"><Relationship Id="rId20" Type="http://schemas.openxmlformats.org/officeDocument/2006/relationships/font" Target="fonts/Outfit-bold.fntdata"/><Relationship Id="rId22" Type="http://schemas.openxmlformats.org/officeDocument/2006/relationships/font" Target="fonts/UrbanistSemiBold-bold.fntdata"/><Relationship Id="rId21" Type="http://schemas.openxmlformats.org/officeDocument/2006/relationships/font" Target="fonts/UrbanistSemiBold-regular.fntdata"/><Relationship Id="rId24" Type="http://schemas.openxmlformats.org/officeDocument/2006/relationships/font" Target="fonts/UrbanistSemiBold-boldItalic.fntdata"/><Relationship Id="rId23" Type="http://schemas.openxmlformats.org/officeDocument/2006/relationships/font" Target="fonts/UrbanistSemiBold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UrbanistMedium-bold.fntdata"/><Relationship Id="rId25" Type="http://schemas.openxmlformats.org/officeDocument/2006/relationships/font" Target="fonts/UrbanistMedium-regular.fntdata"/><Relationship Id="rId28" Type="http://schemas.openxmlformats.org/officeDocument/2006/relationships/font" Target="fonts/UrbanistMedium-boldItalic.fntdata"/><Relationship Id="rId27" Type="http://schemas.openxmlformats.org/officeDocument/2006/relationships/font" Target="fonts/UrbanistMedium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Urbanist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Urbanist-italic.fntdata"/><Relationship Id="rId30" Type="http://schemas.openxmlformats.org/officeDocument/2006/relationships/font" Target="fonts/Urbanist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schemas.openxmlformats.org/officeDocument/2006/relationships/font" Target="fonts/Urbanist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Outfit-regular.fntdata"/><Relationship Id="rId18" Type="http://schemas.openxmlformats.org/officeDocument/2006/relationships/slide" Target="slides/slide12.xml"/><Relationship Id="rId33" Type="http://schemas.openxmlformats.org/officeDocument/2006/relationships/slide" Target="slides/slide13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25.png"/><Relationship Id="rId5" Type="http://schemas.openxmlformats.org/officeDocument/2006/relationships/image" Target="../media/image12.png"/><Relationship Id="rId6" Type="http://schemas.openxmlformats.org/officeDocument/2006/relationships/image" Target="../media/image1.png"/><Relationship Id="rId7" Type="http://schemas.openxmlformats.org/officeDocument/2006/relationships/image" Target="../media/image19.png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6.png"/><Relationship Id="rId6" Type="http://schemas.openxmlformats.org/officeDocument/2006/relationships/image" Target="../media/image_crisis.png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9" Type="http://schemas.openxmlformats.org/officeDocument/2006/relationships/image" Target="../media/image13.png"/><Relationship Id="rId5" Type="http://schemas.openxmlformats.org/officeDocument/2006/relationships/image" Target="../media/image9.png"/><Relationship Id="rId6" Type="http://schemas.openxmlformats.org/officeDocument/2006/relationships/image" Target="../media/image2.png"/><Relationship Id="rId7" Type="http://schemas.openxmlformats.org/officeDocument/2006/relationships/image" Target="../media/image26.png"/><Relationship Id="rId8" Type="http://schemas.openxmlformats.org/officeDocument/2006/relationships/image" Target="../media/image11.png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21.png"/><Relationship Id="rId5" Type="http://schemas.openxmlformats.org/officeDocument/2006/relationships/image" Target="../media/image_mock.png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23.png"/><Relationship Id="rId5" Type="http://schemas.openxmlformats.org/officeDocument/2006/relationships/image" Target="../media/image10.png"/><Relationship Id="rId10" Type="http://schemas.openxmlformats.org/officeDocument/2006/relationships/image" Target="../media/image_arch.png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29.png"/><Relationship Id="rId5" Type="http://schemas.openxmlformats.org/officeDocument/2006/relationships/image" Target="../media/image22.png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28.png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27.png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4" Type="http://schemas.openxmlformats.org/officeDocument/2006/relationships/image" Target="../media/image21.png"/><Relationship Id="rId5" Type="http://schemas.openxmlformats.org/officeDocument/2006/relationships/image" Target="../media/image_mock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095500" y="2453729"/>
            <a:ext cx="80010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3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DATAPROOF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286000" y="3444325"/>
            <a:ext cx="78105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Claim the data a company holds on you — and check they actually gave it all. A consumer-first approach to Data Ethics &amp; AI Governance.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2" name="Google Shape;9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24100"/>
            <a:ext cx="5286375" cy="3095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324100"/>
            <a:ext cx="5286375" cy="309562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914400" y="3429000"/>
            <a:ext cx="4830603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The Request Trap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914400" y="3971925"/>
            <a:ext cx="46005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Laws like GDPR and CCPA give you rights, but practice is broken. Most users don't know who to contact, what to ask for, or the correct legal terminology to use.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6677025" y="3429000"/>
            <a:ext cx="4830603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The Verification Gap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6677025" y="3971925"/>
            <a:ext cx="46005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Even if you get a reply, who checks if it's complete? Companies can quietly leave data out, and today, there is no tool to catch these "gaps and dodges."</a:t>
            </a:r>
            <a:endParaRPr/>
          </a:p>
        </p:txBody>
      </p:sp>
      <p:pic>
        <p:nvPicPr>
          <p:cNvPr descr="image.png" id="98" name="Google Shape;98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4400" y="272415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77025" y="272415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1F5F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The Problem</a:t>
            </a:r>
            <a:endParaRPr/>
          </a:p>
        </p:txBody>
      </p:sp>
      <p:sp>
        <p:nvSpPr>
          <p:cNvPr id="101" name="Google Shape;101;p14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762000" y="1334875"/>
            <a:ext cx="11063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 xml:space="preserve">The </a:t>
            </a:r>
            <a:r>
              <a:rPr b="1" lang="en-US" sz="1700">
                <a:solidFill>
                  <a:srgbClr val="FF0000"/>
                </a:solidFill>
                <a:latin typeface="Urbanist"/>
                <a:ea typeface="Urbanist"/>
                <a:cs typeface="Urbanist"/>
                <a:sym typeface="Urbanist"/>
              </a:rPr>
              <a:t>Data Breach</a:t>
            </a:r>
            <a:r>
              <a:rPr lang="en-US" sz="1700">
                <a:solidFill>
                  <a:srgbClr val="FF0000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 xml:space="preserve"> </a:t>
            </a:r>
            <a:r>
              <a:rPr lang="en-US" sz="1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 xml:space="preserve">Reality: Most people only realize the value of their data when they receive a breach notification </a:t>
            </a:r>
            <a:endParaRPr sz="1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7" name="Google Shape;10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2062162"/>
            <a:ext cx="52863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762000" y="2652712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35 Billion Records: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 xml:space="preserve"> Breached in 2024 alone across 9,500 disclosed incidents.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762000" y="3412712"/>
            <a:ext cx="49053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Record Compromise: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 xml:space="preserve"> 5.5 Billion accounts breached, an 8x increase from the previous year.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762000" y="4172712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High Stakes: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 xml:space="preserve"> 50% of breaches involved customer PII (Personal Identifiable Information).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762000" y="4932712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Information Asymmetry: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 xml:space="preserve"> You are told your data is gone, but you can't verify what the company still holds.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1F5F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The Growing Crisis</a:t>
            </a:r>
            <a:endParaRPr/>
          </a:p>
        </p:txBody>
      </p:sp>
      <p:sp>
        <p:nvSpPr>
          <p:cNvPr id="119" name="Google Shape;119;p15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4" name="Google Shape;12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1562" y="1728787"/>
            <a:ext cx="42862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71562" y="1728787"/>
            <a:ext cx="42862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6334125" y="2514600"/>
            <a:ext cx="5550693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DataProof: The Rights Advocate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6334125" y="3057525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 xml:space="preserve">A simple web app that guides you through the entire data request lifecycle. From finding the right contact to </a:t>
            </a:r>
            <a:r>
              <a:rPr b="1" i="0" lang="en-US" sz="15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verifying the compliance</a:t>
            </a:r>
            <a:r>
              <a:rPr b="0" i="0" lang="en-US" sz="15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 xml:space="preserve"> of their response.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6648450" y="444242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•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6715125" y="4442425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Stand on the person's side, not the enterprise.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6648450" y="474722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•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6715125" y="4747225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Privacy by design: You stay in control of your data.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6648450" y="505202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•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6715125" y="5052025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Plain language explanations of complex legal gaps.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1F5F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Our Solution</a:t>
            </a:r>
            <a:endParaRPr/>
          </a:p>
        </p:txBody>
      </p:sp>
      <p:sp>
        <p:nvSpPr>
          <p:cNvPr id="136" name="Google Shape;136;p16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1" name="Google Shape;14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24100"/>
            <a:ext cx="2547937" cy="3095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05187" y="2324100"/>
            <a:ext cx="2547937" cy="3095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2324100"/>
            <a:ext cx="2547937" cy="3095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72562" y="2324100"/>
            <a:ext cx="2547937" cy="3095625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7"/>
          <p:cNvSpPr txBox="1"/>
          <p:nvPr/>
        </p:nvSpPr>
        <p:spPr>
          <a:xfrm>
            <a:off x="914400" y="3429000"/>
            <a:ext cx="1955244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1. Pick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914400" y="3971925"/>
            <a:ext cx="1862137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Select the company and your goal: Access or Deletion.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3748087" y="3429000"/>
            <a:ext cx="1955244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2. Know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3748087" y="3971925"/>
            <a:ext cx="1862137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Our app works out which laws apply and what you're owed.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6581775" y="3429000"/>
            <a:ext cx="1955244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3. Send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6581775" y="3971925"/>
            <a:ext cx="1862137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We draft the request in the right legal words for you.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9415462" y="3429000"/>
            <a:ext cx="1955244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4. Verify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9415462" y="3971925"/>
            <a:ext cx="1862137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Upload the reply; we check for missing or dodged info.</a:t>
            </a:r>
            <a:endParaRPr/>
          </a:p>
        </p:txBody>
      </p:sp>
      <p:pic>
        <p:nvPicPr>
          <p:cNvPr descr="image.png" id="154" name="Google Shape;154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4400" y="2724150"/>
            <a:ext cx="3429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748087" y="2724150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81775" y="272415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415462" y="2724150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7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1F5F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How DataProof Works</a:t>
            </a:r>
            <a:endParaRPr/>
          </a:p>
        </p:txBody>
      </p:sp>
      <p:sp>
        <p:nvSpPr>
          <p:cNvPr id="159" name="Google Shape;159;p17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4" name="Google Shape;16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8"/>
          <p:cNvSpPr txBox="1"/>
          <p:nvPr/>
        </p:nvSpPr>
        <p:spPr>
          <a:xfrm>
            <a:off x="1996000" y="2150000"/>
            <a:ext cx="820000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1F5F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The AI Checker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1996000" y="2845000"/>
            <a:ext cx="820000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Key Innovation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1996000" y="3502000"/>
            <a:ext cx="8200000" cy="28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 xml:space="preserve">Existing tools stop at sending. DataProof keeps going. Our </a:t>
            </a:r>
            <a:r>
              <a:rPr b="1" i="0" lang="en-US" sz="15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Compliance Engine</a:t>
            </a:r>
            <a:r>
              <a:rPr b="0" i="0" lang="en-US" sz="15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 xml:space="preserve"> reads the company's reply and compares it against a legal rules-base.</a:t>
            </a:r>
            <a:endParaRPr/>
          </a:p>
          <a:p>
            <a:pPr indent="0" lvl="0" marL="0" marR="0" rtl="0" algn="l">
              <a:lnSpc>
                <a:spcPct val="16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Using a reasoning LLM, we identify if the company is using template "dodges" or excluding mandatory data categories specified in GDPR/CCPA.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ataProof technical architecture" id="174" name="Architecture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0" y="155370"/>
            <a:ext cx="12192000" cy="65472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9" name="Google Shape;20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10" name="Google Shape;210;p21"/>
          <p:cNvGraphicFramePr/>
          <p:nvPr/>
        </p:nvGraphicFramePr>
        <p:xfrm>
          <a:off x="571500" y="22145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{9E3CE238-AE5F-4447-8EDE-35D1CA05EEC6}</a:tableStyleId>
              </a:tblPr>
              <a:tblGrid>
                <a:gridCol w="2457900"/>
                <a:gridCol w="2732325"/>
                <a:gridCol w="2827725"/>
                <a:gridCol w="3031025"/>
              </a:tblGrid>
              <a:tr h="66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10B98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Feature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10B98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Incogni / DeleteMe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10B98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OneTrust / Transcend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10B98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DataProof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66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94A3B8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Target Audience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94A3B8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Data Broker Removal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94A3B8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Enterprise / B2B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94A3B8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End Consumers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94A3B8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Compliance Check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94A3B8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 xml:space="preserve">    </a:t>
                      </a:r>
                      <a:r>
                        <a:rPr b="0" i="0" lang="en-US" sz="1500" u="none" cap="none" strike="noStrike">
                          <a:solidFill>
                            <a:srgbClr val="94A3B8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No</a:t>
                      </a:r>
                      <a:endParaRPr/>
                    </a:p>
                  </a:txBody>
                  <a:tcPr marT="25400" marB="25400" marR="63500" marL="2571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94A3B8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Yes (For Firms)</a:t>
                      </a:r>
                      <a:endParaRPr/>
                    </a:p>
                  </a:txBody>
                  <a:tcPr marT="25400" marB="25400" marR="63500" marL="285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94A3B8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 xml:space="preserve"> Yes (For People)</a:t>
                      </a:r>
                      <a:endParaRPr/>
                    </a:p>
                  </a:txBody>
                  <a:tcPr marT="25400" marB="25400" marR="63500" marL="285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94A3B8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Identity Control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94A3B8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Third-party Agency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94A3B8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Internal Platform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94A3B8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User-Direct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94A3B8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Legal Reasoning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94A3B8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Static Templates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94A3B8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Process Automation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94A3B8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Dynamic AI Verification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1" name="Google Shape;211;p21"/>
          <p:cNvSpPr/>
          <p:nvPr/>
        </p:nvSpPr>
        <p:spPr>
          <a:xfrm>
            <a:off x="571500" y="3543300"/>
            <a:ext cx="245789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1"/>
          <p:cNvSpPr/>
          <p:nvPr/>
        </p:nvSpPr>
        <p:spPr>
          <a:xfrm>
            <a:off x="3029396" y="3543300"/>
            <a:ext cx="273233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1"/>
          <p:cNvSpPr/>
          <p:nvPr/>
        </p:nvSpPr>
        <p:spPr>
          <a:xfrm>
            <a:off x="5761732" y="3543300"/>
            <a:ext cx="282773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1"/>
          <p:cNvSpPr/>
          <p:nvPr/>
        </p:nvSpPr>
        <p:spPr>
          <a:xfrm>
            <a:off x="8589466" y="3543300"/>
            <a:ext cx="303103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1"/>
          <p:cNvSpPr/>
          <p:nvPr/>
        </p:nvSpPr>
        <p:spPr>
          <a:xfrm>
            <a:off x="571500" y="4200525"/>
            <a:ext cx="245789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1"/>
          <p:cNvSpPr/>
          <p:nvPr/>
        </p:nvSpPr>
        <p:spPr>
          <a:xfrm>
            <a:off x="3029396" y="4200525"/>
            <a:ext cx="273233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1"/>
          <p:cNvSpPr/>
          <p:nvPr/>
        </p:nvSpPr>
        <p:spPr>
          <a:xfrm>
            <a:off x="5761732" y="4200525"/>
            <a:ext cx="282773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1"/>
          <p:cNvSpPr/>
          <p:nvPr/>
        </p:nvSpPr>
        <p:spPr>
          <a:xfrm>
            <a:off x="8589466" y="4200525"/>
            <a:ext cx="303103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1"/>
          <p:cNvSpPr/>
          <p:nvPr/>
        </p:nvSpPr>
        <p:spPr>
          <a:xfrm>
            <a:off x="571500" y="4857750"/>
            <a:ext cx="245789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1"/>
          <p:cNvSpPr/>
          <p:nvPr/>
        </p:nvSpPr>
        <p:spPr>
          <a:xfrm>
            <a:off x="3029396" y="4857750"/>
            <a:ext cx="273233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1"/>
          <p:cNvSpPr/>
          <p:nvPr/>
        </p:nvSpPr>
        <p:spPr>
          <a:xfrm>
            <a:off x="5761732" y="4857750"/>
            <a:ext cx="282773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1"/>
          <p:cNvSpPr/>
          <p:nvPr/>
        </p:nvSpPr>
        <p:spPr>
          <a:xfrm>
            <a:off x="8589466" y="4857750"/>
            <a:ext cx="303103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1"/>
          <p:cNvSpPr/>
          <p:nvPr/>
        </p:nvSpPr>
        <p:spPr>
          <a:xfrm>
            <a:off x="571500" y="5514975"/>
            <a:ext cx="245789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1"/>
          <p:cNvSpPr/>
          <p:nvPr/>
        </p:nvSpPr>
        <p:spPr>
          <a:xfrm>
            <a:off x="3029396" y="5514975"/>
            <a:ext cx="273233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1"/>
          <p:cNvSpPr/>
          <p:nvPr/>
        </p:nvSpPr>
        <p:spPr>
          <a:xfrm>
            <a:off x="5761732" y="5514975"/>
            <a:ext cx="282773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1"/>
          <p:cNvSpPr/>
          <p:nvPr/>
        </p:nvSpPr>
        <p:spPr>
          <a:xfrm>
            <a:off x="8589466" y="5514975"/>
            <a:ext cx="303103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27" name="Google Shape;22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19896" y="3786187"/>
            <a:ext cx="1428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8" name="Google Shape;22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19896" y="3786187"/>
            <a:ext cx="1428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61732" y="3781437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0" name="Google Shape;230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08516" y="3781437"/>
            <a:ext cx="171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1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1F5F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Market Differentiation</a:t>
            </a:r>
            <a:endParaRPr/>
          </a:p>
        </p:txBody>
      </p:sp>
      <p:sp>
        <p:nvSpPr>
          <p:cNvPr id="232" name="Google Shape;232;p21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7" name="Google Shape;23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8" name="Google Shape;23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57325"/>
            <a:ext cx="11049000" cy="4829175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2"/>
          <p:cNvSpPr txBox="1"/>
          <p:nvPr/>
        </p:nvSpPr>
        <p:spPr>
          <a:xfrm>
            <a:off x="571500" y="1947862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Average Cost of a Data Breach (USD Millions) - Highlighting the urgency for consumer-side verification.</a:t>
            </a:r>
            <a:endParaRPr/>
          </a:p>
        </p:txBody>
      </p:sp>
      <p:sp>
        <p:nvSpPr>
          <p:cNvPr id="240" name="Google Shape;240;p22"/>
          <p:cNvSpPr txBox="1"/>
          <p:nvPr/>
        </p:nvSpPr>
        <p:spPr>
          <a:xfrm>
            <a:off x="571500" y="5491162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As costs and breaches rise, the ability for individuals to verify their data status becomes a fundamental civil right.</a:t>
            </a:r>
            <a:endParaRPr/>
          </a:p>
        </p:txBody>
      </p:sp>
      <p:sp>
        <p:nvSpPr>
          <p:cNvPr id="241" name="Google Shape;241;p22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1F5F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Impact &amp; Trends</a:t>
            </a:r>
            <a:endParaRPr/>
          </a:p>
        </p:txBody>
      </p:sp>
      <p:sp>
        <p:nvSpPr>
          <p:cNvPr id="242" name="Google Shape;242;p22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7" name="Google Shape;24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3"/>
          <p:cNvSpPr/>
          <p:nvPr/>
        </p:nvSpPr>
        <p:spPr>
          <a:xfrm>
            <a:off x="571500" y="3871912"/>
            <a:ext cx="11049000" cy="381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3"/>
          <p:cNvSpPr/>
          <p:nvPr/>
        </p:nvSpPr>
        <p:spPr>
          <a:xfrm>
            <a:off x="1691580" y="3795712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3"/>
          <p:cNvSpPr txBox="1"/>
          <p:nvPr/>
        </p:nvSpPr>
        <p:spPr>
          <a:xfrm>
            <a:off x="510733" y="3524250"/>
            <a:ext cx="2552193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Phase 1</a:t>
            </a:r>
            <a:endParaRPr/>
          </a:p>
        </p:txBody>
      </p:sp>
      <p:sp>
        <p:nvSpPr>
          <p:cNvPr id="251" name="Google Shape;251;p23"/>
          <p:cNvSpPr txBox="1"/>
          <p:nvPr/>
        </p:nvSpPr>
        <p:spPr>
          <a:xfrm>
            <a:off x="571500" y="4067175"/>
            <a:ext cx="243066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GDPR &amp; CCPA core support. AI Compliance Engine V1.</a:t>
            </a:r>
            <a:endParaRPr/>
          </a:p>
        </p:txBody>
      </p:sp>
      <p:sp>
        <p:nvSpPr>
          <p:cNvPr id="252" name="Google Shape;252;p23"/>
          <p:cNvSpPr/>
          <p:nvPr/>
        </p:nvSpPr>
        <p:spPr>
          <a:xfrm>
            <a:off x="4564260" y="3795712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3"/>
          <p:cNvSpPr txBox="1"/>
          <p:nvPr/>
        </p:nvSpPr>
        <p:spPr>
          <a:xfrm>
            <a:off x="3383413" y="3524250"/>
            <a:ext cx="2552193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Phase 2</a:t>
            </a:r>
            <a:endParaRPr/>
          </a:p>
        </p:txBody>
      </p:sp>
      <p:sp>
        <p:nvSpPr>
          <p:cNvPr id="254" name="Google Shape;254;p23"/>
          <p:cNvSpPr txBox="1"/>
          <p:nvPr/>
        </p:nvSpPr>
        <p:spPr>
          <a:xfrm>
            <a:off x="3444180" y="4067175"/>
            <a:ext cx="24306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Direct API integrations with major cloud providers for faster access.</a:t>
            </a:r>
            <a:endParaRPr/>
          </a:p>
        </p:txBody>
      </p:sp>
      <p:sp>
        <p:nvSpPr>
          <p:cNvPr id="255" name="Google Shape;255;p23"/>
          <p:cNvSpPr/>
          <p:nvPr/>
        </p:nvSpPr>
        <p:spPr>
          <a:xfrm>
            <a:off x="7436941" y="3795712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3"/>
          <p:cNvSpPr txBox="1"/>
          <p:nvPr/>
        </p:nvSpPr>
        <p:spPr>
          <a:xfrm>
            <a:off x="6256094" y="3524250"/>
            <a:ext cx="2552193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Phase 3</a:t>
            </a:r>
            <a:endParaRPr/>
          </a:p>
        </p:txBody>
      </p:sp>
      <p:sp>
        <p:nvSpPr>
          <p:cNvPr id="257" name="Google Shape;257;p23"/>
          <p:cNvSpPr txBox="1"/>
          <p:nvPr/>
        </p:nvSpPr>
        <p:spPr>
          <a:xfrm>
            <a:off x="6316860" y="4067175"/>
            <a:ext cx="24306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Automatic Litigation Support: Flagging violations for law firms.</a:t>
            </a:r>
            <a:endParaRPr/>
          </a:p>
        </p:txBody>
      </p:sp>
      <p:sp>
        <p:nvSpPr>
          <p:cNvPr id="258" name="Google Shape;258;p23"/>
          <p:cNvSpPr/>
          <p:nvPr/>
        </p:nvSpPr>
        <p:spPr>
          <a:xfrm>
            <a:off x="10309621" y="3795712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3"/>
          <p:cNvSpPr txBox="1"/>
          <p:nvPr/>
        </p:nvSpPr>
        <p:spPr>
          <a:xfrm>
            <a:off x="9128774" y="3524250"/>
            <a:ext cx="2552193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Global</a:t>
            </a:r>
            <a:endParaRPr/>
          </a:p>
        </p:txBody>
      </p:sp>
      <p:sp>
        <p:nvSpPr>
          <p:cNvPr id="260" name="Google Shape;260;p23"/>
          <p:cNvSpPr txBox="1"/>
          <p:nvPr/>
        </p:nvSpPr>
        <p:spPr>
          <a:xfrm>
            <a:off x="9189541" y="4067175"/>
            <a:ext cx="243066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Support for Brazil's LGPD, India's DPDPA, and more.</a:t>
            </a:r>
            <a:endParaRPr/>
          </a:p>
        </p:txBody>
      </p:sp>
      <p:sp>
        <p:nvSpPr>
          <p:cNvPr id="261" name="Google Shape;261;p23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1F5F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Future Potential</a:t>
            </a:r>
            <a:endParaRPr/>
          </a:p>
        </p:txBody>
      </p:sp>
      <p:sp>
        <p:nvSpPr>
          <p:cNvPr id="262" name="Google Shape;262;p23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7" name="Google Shape;26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8" name="Google Shape;268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571500"/>
            <a:ext cx="11049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4"/>
          <p:cNvSpPr txBox="1"/>
          <p:nvPr/>
        </p:nvSpPr>
        <p:spPr>
          <a:xfrm>
            <a:off x="295275" y="1855440"/>
            <a:ext cx="1160145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3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QUESTIONS?</a:t>
            </a:r>
            <a:endParaRPr/>
          </a:p>
        </p:txBody>
      </p:sp>
      <p:sp>
        <p:nvSpPr>
          <p:cNvPr id="270" name="Google Shape;270;p24"/>
          <p:cNvSpPr txBox="1"/>
          <p:nvPr/>
        </p:nvSpPr>
        <p:spPr>
          <a:xfrm>
            <a:off x="2286000" y="2791615"/>
            <a:ext cx="7620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0B981"/>
                </a:solidFill>
                <a:latin typeface="Outfit"/>
                <a:ea typeface="Outfit"/>
                <a:cs typeface="Outfit"/>
                <a:sym typeface="Outfit"/>
              </a:rPr>
              <a:t>DATAPROOF — Personal Data Sovereignty</a:t>
            </a:r>
            <a:endParaRPr/>
          </a:p>
        </p:txBody>
      </p:sp>
      <p:sp>
        <p:nvSpPr>
          <p:cNvPr id="271" name="Google Shape;271;p24"/>
          <p:cNvSpPr txBox="1"/>
          <p:nvPr/>
        </p:nvSpPr>
        <p:spPr>
          <a:xfrm>
            <a:off x="571500" y="401181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Governance · Data Ethics · AI</a:t>
            </a:r>
            <a:endParaRPr/>
          </a:p>
        </p:txBody>
      </p:sp>
      <p:sp>
        <p:nvSpPr>
          <p:cNvPr id="272" name="Google Shape;272;p24"/>
          <p:cNvSpPr txBox="1"/>
          <p:nvPr/>
        </p:nvSpPr>
        <p:spPr>
          <a:xfrm>
            <a:off x="571500" y="450711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Empowering the person, one verify at a time.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ackground" id="301" name="b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accent"/>
          <p:cNvSpPr/>
          <p:nvPr/>
        </p:nvSpPr>
        <p:spPr>
          <a:xfrm>
            <a:off x="571500" y="476250"/>
            <a:ext cx="57150" cy="5048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3" name="title"/>
          <p:cNvSpPr txBox="1"/>
          <p:nvPr/>
        </p:nvSpPr>
        <p:spPr>
          <a:xfrm>
            <a:off x="762000" y="47625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buNone/>
            </a:pPr>
            <a:r>
              <a:rPr b="0" i="0" lang="en-US" sz="3300" u="none" cap="none" strike="noStrike">
                <a:solidFill>
                  <a:srgbClr val="F1F5F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DataProof in Action</a:t>
            </a:r>
            <a:endParaRPr/>
          </a:p>
        </p:txBody>
      </p:sp>
      <p:sp>
        <p:nvSpPr>
          <p:cNvPr id="304" name="caption"/>
          <p:cNvSpPr txBox="1"/>
          <p:nvPr/>
        </p:nvSpPr>
        <p:spPr>
          <a:xfrm>
            <a:off x="762000" y="1133475"/>
            <a:ext cx="1104900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An access request to a fitness app, checked point-by-point against what GDPR requires.</a:t>
            </a:r>
            <a:endParaRPr/>
          </a:p>
        </p:txBody>
      </p:sp>
      <p:pic>
        <p:nvPicPr>
          <p:cNvPr descr="DataProof verification report" id="305" name="mockup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47000" y="1710000"/>
            <a:ext cx="7098000" cy="50168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